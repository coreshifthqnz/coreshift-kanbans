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Input $/MTok</c:v>
                </c:pt>
              </c:strCache>
            </c:strRef>
          </c:tx>
          <c:dPt>
            <c:idx val="0"/>
            <c:spPr>
              <a:solidFill>
                <a:srgbClr val="02C39A"/>
              </a:solidFill>
              <a:ln>
                <a:noFill/>
              </a:ln>
            </c:spPr>
          </c:dPt>
          <c:dPt>
            <c:idx val="1"/>
            <c:spPr>
              <a:solidFill>
                <a:srgbClr val="02C39A"/>
              </a:solidFill>
              <a:ln>
                <a:noFill/>
              </a:ln>
            </c:spPr>
          </c:dPt>
          <c:dPt>
            <c:idx val="2"/>
            <c:spPr>
              <a:solidFill>
                <a:srgbClr val="02C39A"/>
              </a:solidFill>
              <a:ln>
                <a:noFill/>
              </a:ln>
            </c:spPr>
          </c:dPt>
          <c:dPt>
            <c:idx val="3"/>
            <c:spPr>
              <a:solidFill>
                <a:srgbClr val="028090"/>
              </a:solidFill>
              <a:ln>
                <a:noFill/>
              </a:ln>
            </c:spPr>
          </c:dPt>
          <c:dPt>
            <c:idx val="4"/>
            <c:spPr>
              <a:solidFill>
                <a:srgbClr val="028090"/>
              </a:solidFill>
              <a:ln>
                <a:noFill/>
              </a:ln>
            </c:spPr>
          </c:dPt>
          <c:dPt>
            <c:idx val="5"/>
            <c:spPr>
              <a:solidFill>
                <a:srgbClr val="028090"/>
              </a:solidFill>
              <a:ln>
                <a:noFill/>
              </a:ln>
            </c:spPr>
          </c:dPt>
          <c:dPt>
            <c:idx val="6"/>
            <c:spPr>
              <a:solidFill>
                <a:srgbClr val="64748B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DeepSeek-V4-Flash</c:v>
                </c:pt>
                <c:pt idx="1">
                  <c:v>GPT-5.6 Luna</c:v>
                </c:pt>
                <c:pt idx="2">
                  <c:v>Gemini 3.1 Flash-Lite</c:v>
                </c:pt>
                <c:pt idx="3">
                  <c:v>Haiku 4.5</c:v>
                </c:pt>
                <c:pt idx="4">
                  <c:v>Sonnet 5*</c:v>
                </c:pt>
                <c:pt idx="5">
                  <c:v>Opus 5</c:v>
                </c:pt>
                <c:pt idx="6">
                  <c:v>Fable 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</c:v>
                </c:pt>
                <c:pt idx="1">
                  <c:v>0.2</c:v>
                </c:pt>
                <c:pt idx="2">
                  <c:v>0.25</c:v>
                </c:pt>
                <c:pt idx="3">
                  <c:v>1.0</c:v>
                </c:pt>
                <c:pt idx="4">
                  <c:v>2.0</c:v>
                </c:pt>
                <c:pt idx="5">
                  <c:v>5.0</c:v>
                </c:pt>
                <c:pt idx="6">
                  <c:v>10.0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100" b="1">
                  <a:solidFill>
                    <a:srgbClr val="1E293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E7E6"/>
            </a:solidFill>
          </a:ln>
        </c:spPr>
        <c:txPr>
          <a:bodyPr/>
          <a:lstStyle/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  <c:min val="0.0"/>
        </c:scaling>
        <c:delete val="0"/>
        <c:axPos val="b"/>
        <c:majorGridlines>
          <c:spPr>
            <a:ln w="9525">
              <a:solidFill>
                <a:srgbClr val="DCE7E6"/>
              </a:solidFill>
            </a:ln>
          </c:spPr>
        </c:majorGridlines>
        <c:numFmt formatCode="&quot;$&quot;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02C39A"/>
                </a:solidFill>
                <a:latin typeface="Calibri"/>
              </a:rPr>
              <a:t>AI PRACTICE RADAR  ·  STANDOUT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5039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Model Routing &amp;</a:t>
            </a:r>
          </a:p>
          <a:p>
            <a:r>
              <a:rPr sz="4400" b="1" i="0">
                <a:solidFill>
                  <a:srgbClr val="FFFFFF"/>
                </a:solidFill>
                <a:latin typeface="Cambria"/>
              </a:rPr>
              <a:t>Cost-Efficient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0">
                <a:solidFill>
                  <a:srgbClr val="CFE7E6"/>
                </a:solidFill>
                <a:latin typeface="Calibri"/>
              </a:rPr>
              <a:t>Start high and dial the effort down — then re-price the floor.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8FB8B6"/>
                </a:solidFill>
                <a:latin typeface="Calibri"/>
              </a:rPr>
              <a:t>Week of 3 Aug 2026  ·  Coreshift HQ  ·  Prices verified against platform.claude.com/docs pricing, 5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The rule we were running was backwards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Anthropic's own model-selection guidance (24 Jul 2026) inverts the default this deck used to teach.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64748B"/>
                </a:solidFill>
                <a:latin typeface="Calibri"/>
              </a:rPr>
              <a:t>THEN  ·  WHAT THIS DECK USED TO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>
                <a:solidFill>
                  <a:srgbClr val="1E293B"/>
                </a:solidFill>
                <a:latin typeface="Cambria"/>
              </a:rPr>
              <a:t>Default to the cheap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Start new work on Sonnet, hold Opus in reserve for the hard parts, and swap models when quality falls short.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0F2A33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C39A"/>
                </a:solidFill>
                <a:latin typeface="Calibri"/>
              </a:rPr>
              <a:t>NOW  ·  WHAT ANTHROPIC ADVISES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Start high, lower the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0156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CFE7E6"/>
                </a:solidFill>
                <a:latin typeface="Calibri"/>
              </a:rPr>
              <a:t>Begin with the most intelligent model available and use the effort level as the cost/performance dial.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10972800" cy="960120"/>
          </a:xfrm>
          <a:prstGeom prst="roundRect">
            <a:avLst>
              <a:gd name="adj" fmla="val 11428"/>
            </a:avLst>
          </a:prstGeom>
          <a:solidFill>
            <a:srgbClr val="DCE7E6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10149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1" i="0">
                <a:solidFill>
                  <a:srgbClr val="028090"/>
                </a:solidFill>
                <a:latin typeface="Cambria"/>
              </a:rPr>
              <a:t>“Cost-per-task is often lower for more intelligent models, especially at lower effort levels.”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64748B"/>
                </a:solidFill>
                <a:latin typeface="Calibri"/>
              </a:rPr>
              <a:t>Why: a smarter model at low effort often gets there in fewer tokens and fewer retries than a cheaper model grinding at standard effort — so "cheap model by default" can cost more per completed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Effort is the dial, not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One model, five cost/quality settings — reach for this before reaching for a smaller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2011680" cy="960120"/>
          </a:xfrm>
          <a:prstGeom prst="roundRect">
            <a:avLst>
              <a:gd name="adj" fmla="val 11428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293B"/>
                </a:solidFill>
                <a:latin typeface="Cambria"/>
              </a:rPr>
              <a:t>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057400"/>
            <a:ext cx="2011680" cy="960120"/>
          </a:xfrm>
          <a:prstGeom prst="roundRect">
            <a:avLst>
              <a:gd name="adj" fmla="val 11428"/>
            </a:avLst>
          </a:prstGeom>
          <a:solidFill>
            <a:srgbClr val="DCE7E6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80360" y="2331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293B"/>
                </a:solidFill>
                <a:latin typeface="Cambria"/>
              </a:rPr>
              <a:t>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57400"/>
            <a:ext cx="2011680" cy="960120"/>
          </a:xfrm>
          <a:prstGeom prst="roundRect">
            <a:avLst>
              <a:gd name="adj" fmla="val 11428"/>
            </a:avLst>
          </a:prstGeom>
          <a:solidFill>
            <a:srgbClr val="00A896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0" y="2331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2A33"/>
                </a:solidFill>
                <a:latin typeface="Cambria"/>
              </a:rP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57400"/>
            <a:ext cx="2011680" cy="960120"/>
          </a:xfrm>
          <a:prstGeom prst="roundRect">
            <a:avLst>
              <a:gd name="adj" fmla="val 11428"/>
            </a:avLst>
          </a:prstGeom>
          <a:solidFill>
            <a:srgbClr val="028090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60920" y="2331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xhigh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057400"/>
            <a:ext cx="2011680" cy="960120"/>
          </a:xfrm>
          <a:prstGeom prst="roundRect">
            <a:avLst>
              <a:gd name="adj" fmla="val 11428"/>
            </a:avLst>
          </a:prstGeom>
          <a:solidFill>
            <a:srgbClr val="0F2A33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0" y="2331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cheaper, faster  ←—————————————————————————————————————————————→  more capable, more expensive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8090"/>
                </a:solidFill>
                <a:latin typeface="Calibri"/>
              </a:rPr>
              <a:t>THE CONSTRAINT WORTH KNOWING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1E293B"/>
                </a:solidFill>
                <a:latin typeface="Calibri"/>
              </a:rPr>
              <a:t>On Opus 5, thinking can only be disabled at effort high or below. Asking for xhigh or max with thinking off returns a 400 — a breaking change from Opus 4.8.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8090"/>
                </a:solidFill>
                <a:latin typeface="Calibri"/>
              </a:rPr>
              <a:t>AND THE SAFETY 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62272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0" i="0">
                <a:solidFill>
                  <a:srgbClr val="1E293B"/>
                </a:solidFill>
                <a:latin typeface="Calibri"/>
              </a:rPr>
              <a:t>Server-side automatic fallbacks (fallbacks: "default") route a safety-blocked request to another model instead of erroring — so a classifier false positive no longer breaks an unattended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Anthropic's four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The decision procedure that replaces "which model is cheapest?"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87552" y="2304288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2257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1E293B"/>
                </a:solidFill>
                <a:latin typeface="Cambria"/>
              </a:rPr>
              <a:t>Task difficulty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16352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64748B"/>
                </a:solidFill>
                <a:latin typeface="Calibri"/>
              </a:rPr>
              <a:t>Multi-step, long-running, or previously unsolved work wants a more capable class. This is the question that dominates.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656832" y="2304288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2257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1E293B"/>
                </a:solidFill>
                <a:latin typeface="Cambria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816352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64748B"/>
                </a:solidFill>
                <a:latin typeface="Calibri"/>
              </a:rPr>
              <a:t>High-frequency, customer-facing paths favour Sonnet — a better answer that arrives too late is the wrong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87552" y="4315968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3425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1E293B"/>
                </a:solidFill>
                <a:latin typeface="Cambria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28032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64748B"/>
                </a:solidFill>
                <a:latin typeface="Calibri"/>
              </a:rPr>
              <a:t>Mythos remains limited to Project Glasswing organisations, so it isn't part of our ladder regardless of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656832" y="4315968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33425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1E293B"/>
                </a:solidFill>
                <a:latin typeface="Cambria"/>
              </a:rPr>
              <a:t>Unit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828032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64748B"/>
                </a:solidFill>
                <a:latin typeface="Calibri"/>
              </a:rPr>
              <a:t>Price per task at your actual volume — not the per-token headline rate. This is where the old rule went wrong.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64748B"/>
                </a:solidFill>
                <a:latin typeface="Calibri"/>
              </a:rPr>
              <a:t>Their framing: the choice is context-dependent rather than purely hierarchical — a higher effort setting on a capable model can beat a lower-tier model outright.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The ladder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Same four rungs, different default: Opus is the working starting point, not the reserve.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606040" cy="315468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7E6"/>
            </a:solidFill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06040" cy="566928"/>
          </a:xfrm>
          <a:prstGeom prst="roundRect">
            <a:avLst>
              <a:gd name="adj" fmla="val 19354"/>
            </a:avLst>
          </a:prstGeom>
          <a:solidFill>
            <a:srgbClr val="64748B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57984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FABLE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 i="0">
                <a:solidFill>
                  <a:srgbClr val="1E293B"/>
                </a:solidFill>
                <a:latin typeface="Cambria"/>
              </a:rPr>
              <a:t>$10 / $50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1868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Calibri"/>
              </a:rPr>
              <a:t>per MTok in /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64748B"/>
                </a:solidFill>
                <a:latin typeface="Calibri"/>
              </a:rPr>
              <a:t>Escalate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E293B"/>
                </a:solidFill>
                <a:latin typeface="Calibri"/>
              </a:rPr>
              <a:t>Reach for it when internal testing shows Opus actually struggling on a specific task — not pre-emptively.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606040" cy="315468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7E6"/>
            </a:solidFill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06040" cy="566928"/>
          </a:xfrm>
          <a:prstGeom prst="roundRect">
            <a:avLst>
              <a:gd name="adj" fmla="val 19354"/>
            </a:avLst>
          </a:prstGeom>
          <a:solidFill>
            <a:srgbClr val="028090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29000" y="2157984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OPUS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43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 i="0">
                <a:solidFill>
                  <a:srgbClr val="1E293B"/>
                </a:solidFill>
                <a:latin typeface="Cambria"/>
              </a:rPr>
              <a:t>$5 / $25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1868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Calibri"/>
              </a:rPr>
              <a:t>per MTok in /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393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28090"/>
                </a:solidFill>
                <a:latin typeface="Calibri"/>
              </a:rPr>
              <a:t>The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02336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E293B"/>
                </a:solidFill>
                <a:latin typeface="Calibri"/>
              </a:rPr>
              <a:t>Architecture, tricky debugging, final review — and now the main loop's starting point at low effort.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2606040" cy="315468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7E6"/>
            </a:solidFill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606040" cy="566928"/>
          </a:xfrm>
          <a:prstGeom prst="roundRect">
            <a:avLst>
              <a:gd name="adj" fmla="val 19354"/>
            </a:avLst>
          </a:prstGeom>
          <a:solidFill>
            <a:srgbClr val="00A896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0" y="2157984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SONNET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 i="0">
                <a:solidFill>
                  <a:srgbClr val="1E293B"/>
                </a:solidFill>
                <a:latin typeface="Cambria"/>
              </a:rPr>
              <a:t>$2 / $10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1868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Calibri"/>
              </a:rPr>
              <a:t>per MTok in /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393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0A896"/>
                </a:solidFill>
                <a:latin typeface="Calibri"/>
              </a:rPr>
              <a:t>Volume &amp;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E293B"/>
                </a:solidFill>
                <a:latin typeface="Calibri"/>
              </a:rPr>
              <a:t>High-volume sub-agent fan-out and speed-sensitive paths, where it genuinely wins.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011680"/>
            <a:ext cx="2606040" cy="315468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7E6"/>
            </a:solidFill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006840" y="2011680"/>
            <a:ext cx="2606040" cy="566928"/>
          </a:xfrm>
          <a:prstGeom prst="roundRect">
            <a:avLst>
              <a:gd name="adj" fmla="val 19354"/>
            </a:avLst>
          </a:prstGeom>
          <a:solidFill>
            <a:srgbClr val="02C39A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06840" y="2157984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F2A33"/>
                </a:solidFill>
                <a:latin typeface="Cambria"/>
              </a:rPr>
              <a:t>HAIKU 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743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 i="0">
                <a:solidFill>
                  <a:srgbClr val="1E293B"/>
                </a:solidFill>
                <a:latin typeface="Cambria"/>
              </a:rPr>
              <a:t>$1 / $5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21868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Calibri"/>
              </a:rPr>
              <a:t>per MTok in /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6393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28090"/>
                </a:solidFill>
                <a:latin typeface="Calibri"/>
              </a:rPr>
              <a:t>Mechanical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02336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E293B"/>
                </a:solidFill>
                <a:latin typeface="Calibri"/>
              </a:rPr>
              <a:t>Trivial edits and the long tail of small changes. Now the rung under real competitive pressure.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06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64748B"/>
                </a:solidFill>
                <a:latin typeface="Calibri"/>
              </a:rPr>
              <a:t>Sonnet 5's $2 / $10 is introductory pricing through 31 Aug 2026 — it becomes $3 / $15 on 1 Sep, narrowing its input advantage over Opus 5 from 2.5× to 1.7×. Worth re-running the maths at the end of the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The floor fell out from under the cheap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Input price per million tokens. Everything below Haiku arrived in the last week.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965960"/>
          <a:ext cx="70408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965960"/>
            <a:ext cx="3703320" cy="1783080"/>
          </a:xfrm>
          <a:prstGeom prst="roundRect">
            <a:avLst>
              <a:gd name="adj" fmla="val 6153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83879" y="2212848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* AND IT MOVES ON 1 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56032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E293B"/>
                </a:solidFill>
                <a:latin typeface="Calibri"/>
              </a:rPr>
              <a:t>Sonnet 5's $2 is introductory, through 31 Aug 2026. From 1 Sep it is $3 / $15 — so this bar grows 50% in under a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77639"/>
            <a:ext cx="3703320" cy="1783080"/>
          </a:xfrm>
          <a:prstGeom prst="roundRect">
            <a:avLst>
              <a:gd name="adj" fmla="val 6153"/>
            </a:avLst>
          </a:prstGeom>
          <a:solidFill>
            <a:srgbClr val="0F2A33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83879" y="4224528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C39A"/>
                </a:solidFill>
                <a:latin typeface="Calibri"/>
              </a:rPr>
              <a:t>THE TRAP IN THIS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5720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CFE7E6"/>
                </a:solidFill>
                <a:latin typeface="Calibri"/>
              </a:rPr>
              <a:t>Claude 4.7+ models use a newer tokenizer that produces roughly 30% more tokens for the same text. Per-token prices are not comparable across generations — compare cost per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64748B"/>
                </a:solidFill>
                <a:latin typeface="Calibri"/>
              </a:rPr>
              <a:t>Sources: platform.claude.com pricing (verified 5 Aug 2026) · Simon Willison on the GPT-5.6 price cut (30 Jul) and DeepSeek-V4-Flash (31 Jul).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21440" y="6126480"/>
            <a:ext cx="2377440" cy="2377440"/>
          </a:xfrm>
          <a:prstGeom prst="ellipse">
            <a:avLst/>
          </a:prstGeom>
          <a:solidFill>
            <a:srgbClr val="02809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What that changes — and what it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8FB8B6"/>
                </a:solidFill>
                <a:latin typeface="Calibri"/>
              </a:rPr>
              <a:t>Two price moves in 48 hours, 30–31 Jul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 i="0">
                <a:solidFill>
                  <a:srgbClr val="02C39A"/>
                </a:solidFill>
                <a:latin typeface="Cambria"/>
              </a:rPr>
              <a:t>−80%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057400"/>
            <a:ext cx="4160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0">
                <a:solidFill>
                  <a:srgbClr val="CFE7E6"/>
                </a:solidFill>
                <a:latin typeface="Calibri"/>
              </a:rPr>
              <a:t>GPT-5.6 Luna, cut to $0.20 / $1.20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 i="0">
                <a:solidFill>
                  <a:srgbClr val="02C39A"/>
                </a:solidFill>
                <a:latin typeface="Cambria"/>
              </a:rPr>
              <a:t>$0.14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80360"/>
            <a:ext cx="4160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0">
                <a:solidFill>
                  <a:srgbClr val="CFE7E6"/>
                </a:solidFill>
                <a:latin typeface="Calibri"/>
              </a:rPr>
              <a:t>DeepSeek-V4-Flash-0731, 304B, open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 i="0">
                <a:solidFill>
                  <a:srgbClr val="02C39A"/>
                </a:solidFill>
                <a:latin typeface="Cambria"/>
              </a:rPr>
              <a:t>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703320"/>
            <a:ext cx="4160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0">
                <a:solidFill>
                  <a:srgbClr val="CFE7E6"/>
                </a:solidFill>
                <a:latin typeface="Calibri"/>
              </a:rPr>
              <a:t>of Haiku 4.5's input price, a tier Luna used to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57607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8FB8B6"/>
                </a:solidFill>
                <a:latin typeface="Calibri"/>
              </a:rPr>
              <a:t>OpenAI says GPT-5.6 Sol autonomously rewrote and optimised its production serving kernels, taking about 20% off end-to-end serving cost — the harness argument, applied to inference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965960"/>
            <a:ext cx="4800600" cy="1874519"/>
          </a:xfrm>
          <a:prstGeom prst="roundRect">
            <a:avLst>
              <a:gd name="adj" fmla="val 5853"/>
            </a:avLst>
          </a:prstGeom>
          <a:solidFill>
            <a:srgbClr val="028090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212848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WHAT IT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60320"/>
            <a:ext cx="4069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FFFFFF"/>
                </a:solidFill>
                <a:latin typeface="Calibri"/>
              </a:rPr>
              <a:t>The mechanical sub-agent tier is now genuinely contestable — trivial edits, bulk classification, trace judging. We reach for Haiku there out of stack convenience, not a measured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023360"/>
            <a:ext cx="4800600" cy="2103120"/>
          </a:xfrm>
          <a:prstGeom prst="roundRect">
            <a:avLst>
              <a:gd name="adj" fmla="val 5217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4270248"/>
            <a:ext cx="4069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8090"/>
                </a:solidFill>
                <a:latin typeface="Calibri"/>
              </a:rPr>
              <a:t>WHAT IT DOESN'T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617720"/>
            <a:ext cx="4069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E293B"/>
                </a:solidFill>
                <a:latin typeface="Calibri"/>
              </a:rPr>
              <a:t>The main loop. A $0.20 model doesn't compete on cost-per-completed-task for hard work. And two honest counterweights: single-vendor simplicity is worth real money in a small studio, and every vendor boundary is one more thing our security discipline has to cover.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Where the routing decision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Keep judgment in the main loop; push the grunt work down — and make it policy, not per-dev discipline.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6400800" cy="2103120"/>
          </a:xfrm>
          <a:prstGeom prst="roundRect">
            <a:avLst>
              <a:gd name="adj" fmla="val 5217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8090"/>
                </a:solidFill>
                <a:latin typeface="Calibri"/>
              </a:rPr>
              <a:t>THE SUB-AGENT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E293B"/>
                </a:solidFill>
                <a:latin typeface="Calibri"/>
              </a:rPr>
              <a:t>Judgment, review and synthesis stay on the strong model in the main loop. Spawn sub-agents with model overrides for the rest — Sonnet for substantive implementation, Haiku for trivial and mechanical changes. Most of the quality where it matters, a large cut on the long 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6400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7E6"/>
            </a:solidFill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449884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8090"/>
                </a:solidFill>
                <a:latin typeface="Calibri"/>
              </a:rPr>
              <a:t>AND ROUTING IS BECOMING A RUNTIME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1E293B"/>
                </a:solidFill>
                <a:latin typeface="Calibri"/>
              </a:rPr>
              <a:t>LangChain's LangSmith LLM Gateway (30 Jul) puts model choice, limits and fallbacks behind runtime settings rather than a redeploy — which is what makes the experiment above cheap to run and cheap to reverse.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65960"/>
            <a:ext cx="4206240" cy="3886200"/>
          </a:xfrm>
          <a:prstGeom prst="roundRect">
            <a:avLst>
              <a:gd name="adj" fmla="val 2823"/>
            </a:avLst>
          </a:prstGeom>
          <a:solidFill>
            <a:srgbClr val="0F2A33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62672" y="22402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C39A"/>
                </a:solidFill>
                <a:latin typeface="Calibri"/>
              </a:rPr>
              <a:t>THE TOOLING THAT MAKES IT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6517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mbria"/>
              </a:rPr>
              <a:t>Org / role default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309067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8FB8B6"/>
                </a:solidFill>
                <a:latin typeface="Calibri"/>
              </a:rPr>
              <a:t>So routine work doesn't silently start on the priciest 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7033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mbria"/>
              </a:rPr>
              <a:t>Explore inherits the session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4142231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8FB8B6"/>
                </a:solidFill>
                <a:latin typeface="Calibri"/>
              </a:rPr>
              <a:t>Capped at Opus, so search quality scales with the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754879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Cambria"/>
              </a:rPr>
              <a:t>Enterprise entitlements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519379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8FB8B6"/>
                </a:solidFill>
                <a:latin typeface="Calibri"/>
              </a:rPr>
              <a:t>Model-level defaults plus spend alerts, set centrally.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1E293B"/>
                </a:solidFill>
                <a:latin typeface="Cambria"/>
              </a:rPr>
              <a:t>Fix the harness before blaming the bill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64748B"/>
                </a:solidFill>
                <a:latin typeface="Calibri"/>
              </a:rPr>
              <a:t>The expensive-looking invoice is usually wasted tokens, not the model price.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3042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028090"/>
                </a:solidFill>
                <a:latin typeface="Cambria"/>
              </a:rPr>
              <a:t>“The best AI agents cost less than you think.”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82112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E293B"/>
                </a:solidFill>
                <a:latin typeface="Calibri"/>
              </a:rPr>
              <a:t>Eno Reyes, Factory — the bill is usually a harness problem: wasted tokens, redundant calls, no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75120" y="23042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028090"/>
                </a:solidFill>
                <a:latin typeface="Cambria"/>
              </a:rPr>
              <a:t>“More compute in → better model out.”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182112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E293B"/>
                </a:solidFill>
                <a:latin typeface="Calibri"/>
              </a:rPr>
              <a:t>Lee Robinson, Cursor — the complementary case: spending on the right step pays for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0972800" cy="1463040"/>
          </a:xfrm>
          <a:prstGeom prst="roundRect">
            <a:avLst>
              <a:gd name="adj" fmla="val 7500"/>
            </a:avLst>
          </a:prstGeom>
          <a:solidFill>
            <a:srgbClr val="0F2A33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4681728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02C39A"/>
                </a:solidFill>
                <a:latin typeface="Calibri"/>
              </a:rPr>
              <a:t>CHECK THESE BEFORE ESCALATING A STEP TO A BIGGER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47488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FE7E6"/>
                </a:solidFill>
                <a:latin typeface="Calibri"/>
              </a:rPr>
              <a:t>Prompt caching on (a cache hit costs 10% of input) · context scoped to the step · search and sub-agent budgets capped · batch the non-urgent work (50% off) · and a real verifier attached before anything moves down a tier.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64748B"/>
                </a:solidFill>
                <a:latin typeface="Calibri"/>
              </a:rPr>
              <a:t>The discipline that ties this to the Evals topic: the steps safest to push down are the ones with an automatic success signal. If it self-verifies, a smaller model iterating against that check is usually enough.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How we apply it at Coreshift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499616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481328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2C39A"/>
                </a:solidFill>
                <a:latin typeface="Cambria"/>
              </a:rPr>
              <a:t>Start high, dial effort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65376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AE9"/>
                </a:solidFill>
                <a:latin typeface="Calibri"/>
              </a:rPr>
              <a:t>Default the main loop to Opus 5 and reach for low or medium effort before reaching for a smaller model.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95728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77440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2C39A"/>
                </a:solidFill>
                <a:latin typeface="Cambria"/>
              </a:rPr>
              <a:t>Sonnet where it genuinely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61488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AE9"/>
                </a:solidFill>
                <a:latin typeface="Calibri"/>
              </a:rPr>
              <a:t>High-volume sub-agent fan-out and latency-sensitive paths — not as the blanket default.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91840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73552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2C39A"/>
                </a:solidFill>
                <a:latin typeface="Cambria"/>
              </a:rPr>
              <a:t>Judge cost per completed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576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AE9"/>
                </a:solidFill>
                <a:latin typeface="Calibri"/>
              </a:rPr>
              <a:t>At real volume, not per-token headline rates — and never across tokenizer generations.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87952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69664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2C39A"/>
                </a:solidFill>
                <a:latin typeface="Cambria"/>
              </a:rPr>
              <a:t>Treat the bottom rung as contestable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55371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AE9"/>
                </a:solidFill>
                <a:latin typeface="Calibri"/>
              </a:rPr>
              <a:t>Where a mechanical step has a real verifier, benchmark it against the sub-$0.25 tier on outcome quality.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8406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065776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>
                <a:solidFill>
                  <a:srgbClr val="02C39A"/>
                </a:solidFill>
                <a:latin typeface="Cambria"/>
              </a:rPr>
              <a:t>Fix harness waste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449824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 i="0">
                <a:solidFill>
                  <a:srgbClr val="DCEAE9"/>
                </a:solidFill>
                <a:latin typeface="Calibri"/>
              </a:rPr>
              <a:t>Caching, scoped context, capped budgets — before assuming a step needs a bigger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447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8FB8B6"/>
                </a:solidFill>
                <a:latin typeface="Calibri"/>
              </a:rPr>
              <a:t>And set an org default model, so cost control isn't left to per-dev discipline.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554480"/>
            <a:ext cx="10881360" cy="3749039"/>
          </a:xfrm>
          <a:prstGeom prst="roundRect">
            <a:avLst>
              <a:gd name="adj" fmla="val 2926"/>
            </a:avLst>
          </a:prstGeom>
          <a:solidFill>
            <a:srgbClr val="F4F8F8"/>
          </a:solidFill>
          <a:ln>
            <a:noFill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28090"/>
                </a:solidFill>
                <a:latin typeface="Calibri"/>
              </a:rPr>
              <a:t>ONE LINE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95728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3000" b="1" i="0">
                <a:solidFill>
                  <a:srgbClr val="1E293B"/>
                </a:solidFill>
                <a:latin typeface="Cambria"/>
              </a:rPr>
              <a:t>Lower the effort before you lower the model.</a:t>
            </a:r>
          </a:p>
          <a:p>
            <a:r>
              <a:rPr sz="3000" b="1" i="0">
                <a:solidFill>
                  <a:srgbClr val="028090"/>
                </a:solidFill>
                <a:latin typeface="Cambria"/>
              </a:rPr>
              <a:t>And price the task, never the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64748B"/>
                </a:solidFill>
                <a:latin typeface="Calibri"/>
              </a:rPr>
              <a:t>Opus 5 at low effort is the starting point · Sonnet for fan-out and latency · the bottom rung is contestable · fix the harness before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64748B"/>
                </a:solidFill>
                <a:latin typeface="Calibri"/>
              </a:rPr>
              <a:t>AI Practice Radar · Week of 3 Aug 2026 · coreshifthqnz.github.io/coreshift-kanbans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
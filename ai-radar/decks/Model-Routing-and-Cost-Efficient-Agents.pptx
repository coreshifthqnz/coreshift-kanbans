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$/MTok output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Opus 4.8</c:v>
                  </c:pt>
                  <c:pt idx="1">
                    <c:v>Sonnet 5 (std)</c:v>
                  </c:pt>
                  <c:pt idx="2">
                    <c:v>Sonnet 5 (intro)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</c:v>
                </c:pt>
                <c:pt idx="1">
                  <c:v>15</c:v>
                </c:pt>
                <c:pt idx="2">
                  <c:v>10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-1280160"/>
            <a:ext cx="3840480" cy="3840480"/>
          </a:xfrm>
          <a:prstGeom prst="ellipse">
            <a:avLst/>
          </a:prstGeom>
          <a:solidFill>
            <a:srgbClr val="0B6B62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3017520"/>
            <a:ext cx="2743200" cy="2743200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566928" cy="5669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07008" y="5486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PRACTICE RADAR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554480"/>
            <a:ext cx="76809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Routing &amp;</a:t>
            </a:r>
            <a:endParaRPr lang="en-US" sz="4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Cost-Efficient Agents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566928" y="3429000"/>
            <a:ext cx="7040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Sonnet 5 changed the default calculus: pick the model per task, not per project.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66928" y="44348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of 6 Jul 2026  ·  Coreshift HQ  ·  Standout item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shift this week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515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Sonnet 5 lands near-Opus agentic quality at roughly a third of the price — and is now the default in Claude Code. Running everything on the biggest model is no longer the smart default.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4F8F8"/>
          </a:solidFill>
          <a:ln/>
          <a:effectLst>
            <a:outerShdw sx="100000" sy="100000" kx="0" ky="0" algn="bl" rotWithShape="0" blurRad="88900" dist="38100" dir="5400000">
              <a:srgbClr val="0F2A33">
                <a:alpha val="14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20574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2395728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 / $10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749808" y="2907792"/>
            <a:ext cx="2240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Sonnet 5 intro price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MTok, through 31 Aug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319272" y="187452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4F8F8"/>
          </a:solidFill>
          <a:ln/>
          <a:effectLst>
            <a:outerShdw sx="100000" sy="100000" kx="0" ky="0" algn="bl" rotWithShape="0" blurRad="88900" dist="38100" dir="5400000">
              <a:srgbClr val="0F2A33">
                <a:alpha val="14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205740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02152" y="2395728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1M</a:t>
            </a:r>
            <a:endParaRPr lang="en-US" sz="2700" dirty="0"/>
          </a:p>
        </p:txBody>
      </p:sp>
      <p:sp>
        <p:nvSpPr>
          <p:cNvPr id="11" name="Text 7"/>
          <p:cNvSpPr/>
          <p:nvPr/>
        </p:nvSpPr>
        <p:spPr>
          <a:xfrm>
            <a:off x="3520440" y="2907792"/>
            <a:ext cx="2240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context window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Sonnet 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089904" y="187452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4F8F8"/>
          </a:solidFill>
          <a:ln/>
          <a:effectLst>
            <a:outerShdw sx="100000" sy="100000" kx="0" ky="0" algn="bl" rotWithShape="0" blurRad="88900" dist="38100" dir="5400000">
              <a:srgbClr val="0F2A33">
                <a:alpha val="14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2057400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272784" y="2395728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Default</a:t>
            </a:r>
            <a:endParaRPr lang="en-US" sz="2700" dirty="0"/>
          </a:p>
        </p:txBody>
      </p:sp>
      <p:sp>
        <p:nvSpPr>
          <p:cNvPr id="15" name="Text 10"/>
          <p:cNvSpPr/>
          <p:nvPr/>
        </p:nvSpPr>
        <p:spPr>
          <a:xfrm>
            <a:off x="6291072" y="2907792"/>
            <a:ext cx="2240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in Claude Code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(from v2.1.197)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548640" y="3456432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price per million tokens</a:t>
            </a:r>
            <a:endParaRPr lang="en-US" sz="12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57200" y="3703320"/>
          <a:ext cx="8229600" cy="10241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routing pattern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judgment, review and synthesis on the strong model in the main loop; delegate the rest to sub-agents with model overrides.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60320" cy="2743200"/>
          </a:xfrm>
          <a:prstGeom prst="roundRect">
            <a:avLst>
              <a:gd name="adj" fmla="val 32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F2A33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83080"/>
            <a:ext cx="2560320" cy="868680"/>
          </a:xfrm>
          <a:prstGeom prst="roundRect">
            <a:avLst>
              <a:gd name="adj" fmla="val 9474"/>
            </a:avLst>
          </a:prstGeom>
          <a:solidFill>
            <a:srgbClr val="0D948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331720"/>
            <a:ext cx="2560320" cy="36576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938528"/>
            <a:ext cx="548640" cy="5486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63040" y="19202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OPUS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463040" y="2267712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Judgment layer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49808" y="2880360"/>
            <a:ext cx="2194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tricky debugging, final review, high-blast-radius calls. Stays in the main loop.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3319272" y="1783080"/>
            <a:ext cx="2560320" cy="2743200"/>
          </a:xfrm>
          <a:prstGeom prst="roundRect">
            <a:avLst>
              <a:gd name="adj" fmla="val 32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F2A33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319272" y="1783080"/>
            <a:ext cx="2560320" cy="868680"/>
          </a:xfrm>
          <a:prstGeom prst="roundRect">
            <a:avLst>
              <a:gd name="adj" fmla="val 9474"/>
            </a:avLst>
          </a:prstGeom>
          <a:solidFill>
            <a:srgbClr val="0D9488"/>
          </a:solidFill>
          <a:ln/>
        </p:spPr>
      </p:sp>
      <p:sp>
        <p:nvSpPr>
          <p:cNvPr id="13" name="Shape 10"/>
          <p:cNvSpPr/>
          <p:nvPr/>
        </p:nvSpPr>
        <p:spPr>
          <a:xfrm>
            <a:off x="3319272" y="2331720"/>
            <a:ext cx="2560320" cy="36576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5304" y="1938528"/>
            <a:ext cx="548640" cy="5486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233672" y="19202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SONNET 5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4233672" y="2267712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layer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3520440" y="2880360"/>
            <a:ext cx="2194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Substantive multi-step implementation. Now the default — most build work lives here.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089904" y="1783080"/>
            <a:ext cx="2560320" cy="2743200"/>
          </a:xfrm>
          <a:prstGeom prst="roundRect">
            <a:avLst>
              <a:gd name="adj" fmla="val 32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F2A33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089904" y="1783080"/>
            <a:ext cx="2560320" cy="868680"/>
          </a:xfrm>
          <a:prstGeom prst="roundRect">
            <a:avLst>
              <a:gd name="adj" fmla="val 9474"/>
            </a:avLst>
          </a:prstGeom>
          <a:solidFill>
            <a:srgbClr val="0D9488"/>
          </a:solidFill>
          <a:ln/>
        </p:spPr>
      </p:sp>
      <p:sp>
        <p:nvSpPr>
          <p:cNvPr id="20" name="Shape 16"/>
          <p:cNvSpPr/>
          <p:nvPr/>
        </p:nvSpPr>
        <p:spPr>
          <a:xfrm>
            <a:off x="6089904" y="2331720"/>
            <a:ext cx="2560320" cy="36576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5936" y="1938528"/>
            <a:ext cx="548640" cy="54864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7004304" y="19202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HAIKU</a:t>
            </a:r>
            <a:endParaRPr lang="en-US" sz="1900" dirty="0"/>
          </a:p>
        </p:txBody>
      </p:sp>
      <p:sp>
        <p:nvSpPr>
          <p:cNvPr id="23" name="Text 18"/>
          <p:cNvSpPr/>
          <p:nvPr/>
        </p:nvSpPr>
        <p:spPr>
          <a:xfrm>
            <a:off x="7004304" y="2267712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Grunt layer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6291072" y="2880360"/>
            <a:ext cx="2194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Trivial, mechanical edits and the long tail of small changes. Cheap sub-agents.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548640" y="464515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Simon Willison, 2 Jul 2026 — “spawn agents with model overrides; keep judgment in the main loop.”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tooling now supports this natively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and Claude Enterprise shipped the pieces to make cheap-by-default a policy, not a per-dev habit.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931920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F2A33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911096"/>
            <a:ext cx="548640" cy="548640"/>
          </a:xfrm>
          <a:prstGeom prst="ellipse">
            <a:avLst/>
          </a:prstGeom>
          <a:solidFill>
            <a:srgbClr val="F4F8F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039112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856232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/ role default models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463040" y="2194560"/>
            <a:ext cx="2907792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0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Admins set a default so routine work doesn’t silently start on the priciest model. (Claude Code 2.1.196)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709160" y="1691640"/>
            <a:ext cx="3931920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F2A33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910328" y="1911096"/>
            <a:ext cx="548640" cy="548640"/>
          </a:xfrm>
          <a:prstGeom prst="ellipse">
            <a:avLst/>
          </a:prstGeom>
          <a:solidFill>
            <a:srgbClr val="F4F8F8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344" y="2039112"/>
            <a:ext cx="292608" cy="2926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23560" y="1856232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agent inherits the model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5623560" y="2194560"/>
            <a:ext cx="2907792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0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inherits the session model (capped at Opus) instead of always Haiku — search quality scales with the task. (2.1.198)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548640" y="3172968"/>
            <a:ext cx="3931920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F2A33">
                <a:alpha val="14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49808" y="3392424"/>
            <a:ext cx="548640" cy="548640"/>
          </a:xfrm>
          <a:prstGeom prst="ellipse">
            <a:avLst/>
          </a:prstGeom>
          <a:solidFill>
            <a:srgbClr val="F4F8F8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3520440"/>
            <a:ext cx="292608" cy="2926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63040" y="333756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Sub-agents inherit thinking config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1463040" y="3675888"/>
            <a:ext cx="2907792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0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Delegated tasks keep the session’s extended-thinking settings, lifting output quality on hand-offs. (2.1.198)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4709160" y="3172968"/>
            <a:ext cx="3931920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F2A33">
                <a:alpha val="14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910328" y="3392424"/>
            <a:ext cx="548640" cy="548640"/>
          </a:xfrm>
          <a:prstGeom prst="ellipse">
            <a:avLst/>
          </a:prstGeom>
          <a:solidFill>
            <a:srgbClr val="F4F8F8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8344" y="3520440"/>
            <a:ext cx="292608" cy="29260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623560" y="333756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model entitlements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5623560" y="3675888"/>
            <a:ext cx="2907792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0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Model-level defaults + entitlements per role, plus spend alerts, set centrally in the admin console. (2 Jul)</a:t>
            </a:r>
            <a:endParaRPr lang="en-US" sz="10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discipline: match model to verifiability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tasks safest to push down to a cheaper model are the ones with a clear automatic success signal.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560320" cy="2788920"/>
          </a:xfrm>
          <a:prstGeom prst="roundRect">
            <a:avLst>
              <a:gd name="adj" fmla="val 2857"/>
            </a:avLst>
          </a:prstGeom>
          <a:solidFill>
            <a:srgbClr val="F4F8F8"/>
          </a:solidFill>
          <a:ln/>
          <a:effectLst>
            <a:outerShdw sx="100000" sy="100000" kx="0" ky="0" algn="bl" rotWithShape="0" blurRad="88900" dist="38100" dir="5400000">
              <a:srgbClr val="0F2A33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65960"/>
            <a:ext cx="685800" cy="68580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6596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72768" y="2048256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Self-verifying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77240" y="2788920"/>
            <a:ext cx="2121408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typecheck, schema / format validation. A small model iterating against the check is usually enough.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77240" y="3950208"/>
            <a:ext cx="21214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down → Sonnet / Haiku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9272" y="1737360"/>
            <a:ext cx="2560320" cy="2788920"/>
          </a:xfrm>
          <a:prstGeom prst="roundRect">
            <a:avLst>
              <a:gd name="adj" fmla="val 2857"/>
            </a:avLst>
          </a:prstGeom>
          <a:solidFill>
            <a:srgbClr val="F4F8F8"/>
          </a:solidFill>
          <a:ln/>
          <a:effectLst>
            <a:outerShdw sx="100000" sy="100000" kx="0" ky="0" algn="bl" rotWithShape="0" blurRad="88900" dist="38100" dir="5400000">
              <a:srgbClr val="0F2A33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47872" y="1965960"/>
            <a:ext cx="685800" cy="685800"/>
          </a:xfrm>
          <a:prstGeom prst="ellipse">
            <a:avLst/>
          </a:prstGeom>
          <a:solidFill>
            <a:srgbClr val="E0A72B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196596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343400" y="2048256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Human-checkpointed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547872" y="2788920"/>
            <a:ext cx="2121408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Judgeable but needs context or taste — migrations, comms, briefs. Keep a person on the gate.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547872" y="3950208"/>
            <a:ext cx="21214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A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model + human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89904" y="1737360"/>
            <a:ext cx="2560320" cy="2788920"/>
          </a:xfrm>
          <a:prstGeom prst="roundRect">
            <a:avLst>
              <a:gd name="adj" fmla="val 2857"/>
            </a:avLst>
          </a:prstGeom>
          <a:solidFill>
            <a:srgbClr val="F4F8F8"/>
          </a:solidFill>
          <a:ln/>
          <a:effectLst>
            <a:outerShdw sx="100000" sy="100000" kx="0" ky="0" algn="bl" rotWithShape="0" blurRad="88900" dist="38100" dir="5400000">
              <a:srgbClr val="0F2A33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18504" y="1965960"/>
            <a:ext cx="685800" cy="685800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18" name="Text 16"/>
          <p:cNvSpPr/>
          <p:nvPr/>
        </p:nvSpPr>
        <p:spPr>
          <a:xfrm>
            <a:off x="6318504" y="196596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114032" y="2048256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verifiable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318504" y="2788920"/>
            <a:ext cx="2121408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Taste, long-horizon strategy, aesthetics. No success signal exists — don’t hand it off blind.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318504" y="3950208"/>
            <a:ext cx="21214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on Opus / human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3108960"/>
            <a:ext cx="3657600" cy="3657600"/>
          </a:xfrm>
          <a:prstGeom prst="ellipse">
            <a:avLst/>
          </a:prstGeom>
          <a:solidFill>
            <a:srgbClr val="0B6B62">
              <a:alpha val="5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apply it at Coreshift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08176"/>
            <a:ext cx="310896" cy="3108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97280" y="1325880"/>
            <a:ext cx="7498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new work to Sonnet 5 in Claude Code; retest existing builds on it.</a:t>
            </a:r>
            <a:endParaRPr lang="en-US" sz="15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29968"/>
            <a:ext cx="310896" cy="31089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97280" y="1947672"/>
            <a:ext cx="7498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Opus for architecture, tricky debugging, and final review.</a:t>
            </a:r>
            <a:endParaRPr lang="en-US" sz="15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651760"/>
            <a:ext cx="310896" cy="310896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097280" y="2569464"/>
            <a:ext cx="7498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 mechanical edits to Haiku sub-agents via model overrides.</a:t>
            </a:r>
            <a:endParaRPr lang="en-US" sz="155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273552"/>
            <a:ext cx="310896" cy="310896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097280" y="3191256"/>
            <a:ext cx="7498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an org default model so cost control isn’t left to per-dev discipline.</a:t>
            </a:r>
            <a:endParaRPr lang="en-US" sz="155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895344"/>
            <a:ext cx="310896" cy="310896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097280" y="3813048"/>
            <a:ext cx="7498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push a step to a cheaper model when it has a real verifier attached.</a:t>
            </a:r>
            <a:endParaRPr lang="en-US" sz="1550" dirty="0"/>
          </a:p>
        </p:txBody>
      </p:sp>
      <p:sp>
        <p:nvSpPr>
          <p:cNvPr id="14" name="Text 7"/>
          <p:cNvSpPr/>
          <p:nvPr/>
        </p:nvSpPr>
        <p:spPr>
          <a:xfrm>
            <a:off x="548640" y="468172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4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Introducing Claude Sonnet 5 (anthropic.com) · Simon Willison, 2 Jul 2026 · Claude Code changelog 2.1.196–2.1.198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 Routing &amp; Cost-Efficient Agents</dc:title>
  <dc:subject>PptxGenJS Presentation</dc:subject>
  <dc:creator>Coreshift AI Radar</dc:creator>
  <cp:lastModifiedBy>Coreshift AI Radar</cp:lastModifiedBy>
  <cp:revision>1</cp:revision>
  <dcterms:created xsi:type="dcterms:W3CDTF">2026-07-05T21:42:16Z</dcterms:created>
  <dcterms:modified xsi:type="dcterms:W3CDTF">2026-07-05T21:42:16Z</dcterms:modified>
</cp:coreProperties>
</file>
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3E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28090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00A896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02C39A"/>
                </a:solidFill>
                <a:latin typeface="Calibri"/>
              </a:rPr>
              <a:t>AI PRACTICE RADAR  ·  STANDOUT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10512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800" b="1" i="0">
                <a:solidFill>
                  <a:srgbClr val="FFFFFF"/>
                </a:solidFill>
                <a:latin typeface="Cambria"/>
              </a:rPr>
              <a:t>Evals &amp; Self-Verifying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18688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 b="0" i="0">
                <a:solidFill>
                  <a:srgbClr val="CFE7E6"/>
                </a:solidFill>
                <a:latin typeface="Calibri"/>
              </a:rPr>
              <a:t>The grader is the weak point, not the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8FB8B6"/>
                </a:solidFill>
                <a:latin typeface="Calibri"/>
              </a:rPr>
              <a:t>Week of 3 Aug 2026  ·  Sources: Nick Heiner (Surge AI) · Prof. David Brumley (Bugcrowd) · LangChain ReviewBench · smevals · Karpathy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1E293B"/>
                </a:solidFill>
                <a:latin typeface="Cambria"/>
              </a:rPr>
              <a:t>The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 i="0">
                <a:solidFill>
                  <a:srgbClr val="64748B"/>
                </a:solidFill>
                <a:latin typeface="Calibri"/>
              </a:rPr>
              <a:t>Traditional software automates what you can specify. LLMs automate what you can verify.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57400"/>
            <a:ext cx="5212080" cy="2788920"/>
          </a:xfrm>
          <a:prstGeom prst="roundRect">
            <a:avLst>
              <a:gd name="adj" fmla="val 3934"/>
            </a:avLst>
          </a:prstGeom>
          <a:solidFill>
            <a:srgbClr val="F4F8F8"/>
          </a:solidFill>
          <a:ln>
            <a:noFill/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 i="0">
                <a:solidFill>
                  <a:srgbClr val="64748B"/>
                </a:solidFill>
                <a:latin typeface="Calibri"/>
              </a:rPr>
              <a:t>TRADITIONAL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97480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 b="1" i="0">
                <a:solidFill>
                  <a:srgbClr val="1E293B"/>
                </a:solidFill>
                <a:latin typeface="Cambria"/>
              </a:rPr>
              <a:t>Automates what you can specify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66160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 i="0">
                <a:solidFill>
                  <a:srgbClr val="1E293B"/>
                </a:solidFill>
                <a:latin typeface="Calibri"/>
              </a:rPr>
              <a:t>You write the exact rules. If you can't state the procedure precisely, you can't automate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57400"/>
            <a:ext cx="5212080" cy="2788920"/>
          </a:xfrm>
          <a:prstGeom prst="roundRect">
            <a:avLst>
              <a:gd name="adj" fmla="val 3934"/>
            </a:avLst>
          </a:prstGeom>
          <a:solidFill>
            <a:srgbClr val="F4F8F8"/>
          </a:solidFill>
          <a:ln>
            <a:noFill/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75120" y="233172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 i="0">
                <a:solidFill>
                  <a:srgbClr val="028090"/>
                </a:solidFill>
                <a:latin typeface="Calibri"/>
              </a:rPr>
              <a:t>LLMS &amp;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97480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200" b="1" i="0">
                <a:solidFill>
                  <a:srgbClr val="1E293B"/>
                </a:solidFill>
                <a:latin typeface="Cambria"/>
              </a:rPr>
              <a:t>Automate what you can verify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566160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 i="0">
                <a:solidFill>
                  <a:srgbClr val="1E293B"/>
                </a:solidFill>
                <a:latin typeface="Calibri"/>
              </a:rPr>
              <a:t>You supply a success check. If a correct answer can be tested, scored, or proven, the model can be pointed at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120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 i="0">
                <a:solidFill>
                  <a:srgbClr val="64748B"/>
                </a:solidFill>
                <a:latin typeface="Calibri"/>
              </a:rPr>
              <a:t>Andrej Karpathy's "Software 3.0" framing — still the load-bearing idea on this page. Everything that follows is about the quality of that success check.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1E293B"/>
                </a:solidFill>
                <a:latin typeface="Cambria"/>
              </a:rPr>
              <a:t>Sort every task by verifiability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 i="0">
                <a:solidFill>
                  <a:srgbClr val="64748B"/>
                </a:solidFill>
                <a:latin typeface="Calibri"/>
              </a:rPr>
              <a:t>Almost anything can be made verifiable to some degree — the question is how much, and at what cost.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3520440" cy="3703320"/>
          </a:xfrm>
          <a:prstGeom prst="roundRect">
            <a:avLst>
              <a:gd name="adj" fmla="val 3116"/>
            </a:avLst>
          </a:prstGeom>
          <a:solidFill>
            <a:srgbClr val="FFFFFF"/>
          </a:solidFill>
          <a:ln w="12700">
            <a:solidFill>
              <a:srgbClr val="DCE7E6"/>
            </a:solidFill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60119" y="2286000"/>
            <a:ext cx="868680" cy="86868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19" y="3291840"/>
            <a:ext cx="2880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 i="0">
                <a:solidFill>
                  <a:srgbClr val="1E293B"/>
                </a:solidFill>
                <a:latin typeface="Cambria"/>
              </a:rPr>
              <a:t>Automate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384048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 i="0">
                <a:solidFill>
                  <a:srgbClr val="1E293B"/>
                </a:solidFill>
                <a:latin typeface="Calibri"/>
              </a:rPr>
              <a:t>Success signal is clear, fast, and needs no human.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4956048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1">
                <a:solidFill>
                  <a:srgbClr val="64748B"/>
                </a:solidFill>
                <a:latin typeface="Calibri"/>
              </a:rPr>
              <a:t>Tests pass/fail · schema &amp; format checks · does it compile / run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965960"/>
            <a:ext cx="3520440" cy="3703320"/>
          </a:xfrm>
          <a:prstGeom prst="roundRect">
            <a:avLst>
              <a:gd name="adj" fmla="val 3116"/>
            </a:avLst>
          </a:prstGeom>
          <a:solidFill>
            <a:srgbClr val="FFFFFF"/>
          </a:solidFill>
          <a:ln w="12700">
            <a:solidFill>
              <a:srgbClr val="DCE7E6"/>
            </a:solidFill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636007" y="2286000"/>
            <a:ext cx="868680" cy="86868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3291840"/>
            <a:ext cx="2880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 i="0">
                <a:solidFill>
                  <a:srgbClr val="1E293B"/>
                </a:solidFill>
                <a:latin typeface="Cambria"/>
              </a:rPr>
              <a:t>Human checkpoint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384048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 i="0">
                <a:solidFill>
                  <a:srgbClr val="1E293B"/>
                </a:solidFill>
                <a:latin typeface="Calibri"/>
              </a:rPr>
              <a:t>Output can be judged, but judging needs context or taste.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4956048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1">
                <a:solidFill>
                  <a:srgbClr val="64748B"/>
                </a:solidFill>
                <a:latin typeface="Calibri"/>
              </a:rPr>
              <a:t>Draft emails · summaries · research briefs · migrations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965960"/>
            <a:ext cx="3520440" cy="3703320"/>
          </a:xfrm>
          <a:prstGeom prst="roundRect">
            <a:avLst>
              <a:gd name="adj" fmla="val 3116"/>
            </a:avLst>
          </a:prstGeom>
          <a:solidFill>
            <a:srgbClr val="FFFFFF"/>
          </a:solidFill>
          <a:ln w="12700">
            <a:solidFill>
              <a:srgbClr val="DCE7E6"/>
            </a:solidFill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11896" y="2286000"/>
            <a:ext cx="868680" cy="86868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3291840"/>
            <a:ext cx="2880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1" i="0">
                <a:solidFill>
                  <a:srgbClr val="1E293B"/>
                </a:solidFill>
                <a:latin typeface="Cambria"/>
              </a:rPr>
              <a:t>Not yet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84048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 i="0">
                <a:solidFill>
                  <a:srgbClr val="1E293B"/>
                </a:solidFill>
                <a:latin typeface="Calibri"/>
              </a:rPr>
              <a:t>Verifiable in principle, but no checking environment exists.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4956048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1">
                <a:solidFill>
                  <a:srgbClr val="64748B"/>
                </a:solidFill>
                <a:latin typeface="Calibri"/>
              </a:rPr>
              <a:t>Taste · aesthetics · long-horizon strategy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 i="0">
                <a:solidFill>
                  <a:srgbClr val="64748B"/>
                </a:solidFill>
                <a:latin typeface="Calibri"/>
              </a:rPr>
              <a:t>Wire V1 checks straight into the agent loop · keep a person on the V2 gate · don't pretend an agent can self-grade V3.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1E293B"/>
                </a:solidFill>
                <a:latin typeface="Cambria"/>
              </a:rPr>
              <a:t>What changed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 i="0">
                <a:solidFill>
                  <a:srgbClr val="64748B"/>
                </a:solidFill>
                <a:latin typeface="Calibri"/>
              </a:rPr>
              <a:t>Three independent sources in four days, all landing on the same point from different directions.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3520440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DCE7E6"/>
            </a:solidFill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19" y="2240280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1" i="0">
                <a:solidFill>
                  <a:srgbClr val="028090"/>
                </a:solidFill>
                <a:latin typeface="Calibri"/>
              </a:rPr>
              <a:t>NICK HEINER · SURGE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19" y="2505456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 i="1">
                <a:solidFill>
                  <a:srgbClr val="64748B"/>
                </a:solidFill>
                <a:latin typeface="Calibri"/>
              </a:rPr>
              <a:t>2 Aug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852928"/>
            <a:ext cx="2880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 i="0">
                <a:solidFill>
                  <a:srgbClr val="1E293B"/>
                </a:solidFill>
                <a:latin typeface="Cambria"/>
              </a:rPr>
              <a:t>Benchmarks quietly break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3785615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E293B"/>
                </a:solidFill>
                <a:latin typeface="Calibri"/>
              </a:rPr>
              <a:t>Four antipatterns corrupt a benchmark. The worst makes gaming the eval the only route to a perfect score.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965960"/>
            <a:ext cx="3520440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DCE7E6"/>
            </a:solidFill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36007" y="2240280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1" i="0">
                <a:solidFill>
                  <a:srgbClr val="028090"/>
                </a:solidFill>
                <a:latin typeface="Calibri"/>
              </a:rPr>
              <a:t>DAVID BRUMLEY · BUGCROWD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505456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 i="1">
                <a:solidFill>
                  <a:srgbClr val="64748B"/>
                </a:solidFill>
                <a:latin typeface="Calibri"/>
              </a:rPr>
              <a:t>31 Jul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852928"/>
            <a:ext cx="2880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 i="0">
                <a:solidFill>
                  <a:srgbClr val="1E293B"/>
                </a:solidFill>
                <a:latin typeface="Cambria"/>
              </a:rPr>
              <a:t>Self-report oracles are hopeless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3785615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E293B"/>
                </a:solidFill>
                <a:latin typeface="Calibri"/>
              </a:rPr>
              <a:t>Asking the model whether it succeeded is not a grade. Score against a deterministic check instead.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965960"/>
            <a:ext cx="3520440" cy="32004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 w="12700">
            <a:solidFill>
              <a:srgbClr val="DCE7E6"/>
            </a:solidFill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11896" y="2240280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1" i="0">
                <a:solidFill>
                  <a:srgbClr val="028090"/>
                </a:solidFill>
                <a:latin typeface="Calibri"/>
              </a:rPr>
              <a:t>LANGCHAIN · REVIEWBENCH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505456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 i="1">
                <a:solidFill>
                  <a:srgbClr val="64748B"/>
                </a:solidFill>
                <a:latin typeface="Calibri"/>
              </a:rPr>
              <a:t>31 Jul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2852928"/>
            <a:ext cx="2880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 i="0">
                <a:solidFill>
                  <a:srgbClr val="1E293B"/>
                </a:solidFill>
                <a:latin typeface="Cambria"/>
              </a:rPr>
              <a:t>Agents caught under a third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3785615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E293B"/>
                </a:solidFill>
                <a:latin typeface="Calibri"/>
              </a:rPr>
              <a:t>~30% of what real reviewers found. Fixed by a structured review prompt — not by a bigger model.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5321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 i="0">
                <a:solidFill>
                  <a:srgbClr val="64748B"/>
                </a:solidFill>
                <a:latin typeface="Calibri"/>
              </a:rPr>
              <a:t>The through-line: we have been treating the model as the variable and the grader as fixed. It is the other way round.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1E293B"/>
                </a:solidFill>
                <a:latin typeface="Cambria"/>
              </a:rPr>
              <a:t>How benchmarks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 i="0">
                <a:solidFill>
                  <a:srgbClr val="64748B"/>
                </a:solidFill>
                <a:latin typeface="Calibri"/>
              </a:rPr>
              <a:t>Nick Heiner's field guide — the existence of the word "benchmaxxing" is itself the tell.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F4F8F8"/>
          </a:solidFill>
          <a:ln>
            <a:noFill/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87552" y="2240279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258568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 i="0">
                <a:solidFill>
                  <a:srgbClr val="1E293B"/>
                </a:solidFill>
                <a:latin typeface="Cambria"/>
              </a:rPr>
              <a:t>Broken 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74320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64748B"/>
                </a:solidFill>
                <a:latin typeface="Calibri"/>
              </a:rPr>
              <a:t>A large share of the tasks in a typical benchmark are simply broken — unsolvable, mis-specified, or wrong.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6596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F4F8F8"/>
          </a:solidFill>
          <a:ln>
            <a:noFill/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656832" y="2240279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258568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 i="0">
                <a:solidFill>
                  <a:srgbClr val="1E293B"/>
                </a:solidFill>
                <a:latin typeface="Cambria"/>
              </a:rPr>
              <a:t>Contamination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74320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64748B"/>
                </a:solidFill>
                <a:latin typeface="Calibri"/>
              </a:rPr>
              <a:t>Models have memorised test content, so a SWE-bench-style score partly measures recall rather than capability.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F4F8F8"/>
          </a:solidFill>
          <a:ln>
            <a:noFill/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987552" y="4251959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270248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 i="0">
                <a:solidFill>
                  <a:srgbClr val="1E293B"/>
                </a:solidFill>
                <a:latin typeface="Cambria"/>
              </a:rPr>
              <a:t>Reward hacking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754879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64748B"/>
                </a:solidFill>
                <a:latin typeface="Calibri"/>
              </a:rPr>
              <a:t>A lazy policy satisfies the verifier without doing the task — the green tick that stops you looking.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977639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023E48"/>
          </a:solidFill>
          <a:ln>
            <a:noFill/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656832" y="4251959"/>
            <a:ext cx="502920" cy="50292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270248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Cambria"/>
              </a:rPr>
              <a:t>Prompt / grader misalignment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754879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CFE7E6"/>
                </a:solidFill>
                <a:latin typeface="Calibri"/>
              </a:rPr>
              <a:t>An eval demanding no commas AND an answer in Hindi. A verifier whose sentence splitter can't parse the required format. Gaming becomes the only path to a perfect score.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17220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 i="0">
                <a:solidFill>
                  <a:srgbClr val="64748B"/>
                </a:solidFill>
                <a:latin typeface="Calibri"/>
              </a:rPr>
              <a:t>Heiner's prescription is judgement, not tooling: bring domain expertise · align the tools with the prompts · pay for real human 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1E293B"/>
                </a:solidFill>
                <a:latin typeface="Cambria"/>
              </a:rPr>
              <a:t>A number for how much agents miss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 i="0">
                <a:solidFill>
                  <a:srgbClr val="64748B"/>
                </a:solidFill>
                <a:latin typeface="Calibri"/>
              </a:rPr>
              <a:t>ReviewBench was built from real reviewer comments on merged PRs, not synthetic bugs.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F4F8F8"/>
          </a:solidFill>
          <a:ln>
            <a:noFill/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05840" y="2212848"/>
            <a:ext cx="44805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200" b="1" i="0">
                <a:solidFill>
                  <a:srgbClr val="028090"/>
                </a:solidFill>
                <a:latin typeface="Cambria"/>
              </a:rPr>
              <a:t>~30%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310128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 i="0">
                <a:solidFill>
                  <a:srgbClr val="1E293B"/>
                </a:solidFill>
                <a:latin typeface="Calibri"/>
              </a:rPr>
              <a:t>of curated reviewer findings recovered by agents on basic harnesses.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33087"/>
            <a:ext cx="44805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64748B"/>
                </a:solidFill>
                <a:latin typeface="Calibri"/>
              </a:rPr>
              <a:t>The failure wasn't general incompetence — it was narrow review strategy. A structured prompt demanding systematic analysis lifted F1 to 0.32 on the test slice.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6596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023E48"/>
          </a:solidFill>
          <a:ln>
            <a:noFill/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75120" y="224028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 i="0">
                <a:solidFill>
                  <a:srgbClr val="02C39A"/>
                </a:solidFill>
                <a:latin typeface="Calibri"/>
              </a:rPr>
              <a:t>WHY THE CONSTRUCTION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06040"/>
            <a:ext cx="4480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Cambria"/>
              </a:rPr>
              <a:t>A synthetic benchmark can only contain the bugs you thought to inject.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611880"/>
            <a:ext cx="4480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50" b="0" i="0">
                <a:solidFill>
                  <a:srgbClr val="CFE7E6"/>
                </a:solidFill>
                <a:latin typeface="Calibri"/>
              </a:rPr>
              <a:t>One mined from your own merged PRs contains the codebase-specific rules and context-dependent issues your reviewers actually catch.</a:t>
            </a:r>
          </a:p>
          <a:p>
            <a:r>
              <a:rPr sz="1450" b="0" i="0">
                <a:solidFill>
                  <a:srgbClr val="CFE7E6"/>
                </a:solidFill>
                <a:latin typeface="Calibri"/>
              </a:rPr>
              <a:t>Every time a human catches what the review agent missed, that's a row worth keeping.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 i="0">
                <a:solidFill>
                  <a:srgbClr val="1E293B"/>
                </a:solidFill>
                <a:latin typeface="Calibri"/>
              </a:rPr>
              <a:t>Review quality is a property of the harness, not the model.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3E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21440" y="6126480"/>
            <a:ext cx="2377440" cy="2377440"/>
          </a:xfrm>
          <a:prstGeom prst="ellipse">
            <a:avLst/>
          </a:prstGeom>
          <a:solidFill>
            <a:srgbClr val="02809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What an honest grader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 i="0">
                <a:solidFill>
                  <a:srgbClr val="8FB8B6"/>
                </a:solidFill>
                <a:latin typeface="Calibri"/>
              </a:rPr>
              <a:t>David Brumley, on a domain where there is no single right answer: exploitation.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6400800" cy="137160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>
            <a:noFill/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67712"/>
            <a:ext cx="5669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Cambria"/>
              </a:rPr>
              <a:t>“Grading oracles that just ask the model whether it succeeded are hopeless.”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1" i="0">
                <a:solidFill>
                  <a:srgbClr val="02C39A"/>
                </a:solidFill>
                <a:latin typeface="Calibri"/>
              </a:rPr>
              <a:t>THE LADDER HE SCORES AGAINST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95928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 i="0">
                <a:solidFill>
                  <a:srgbClr val="FFFFFF"/>
                </a:solidFill>
                <a:latin typeface="Calibri"/>
              </a:rPr>
              <a:t>trigger a crash  →  read and write arbitrary memory  →  a full working exploit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091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 i="0">
                <a:solidFill>
                  <a:srgbClr val="8FB8B6"/>
                </a:solidFill>
                <a:latin typeface="Calibri"/>
              </a:rPr>
              <a:t>Scored in reproducible sandboxed environments by deterministic graders that check whether an exploit actually triggers the specific bug — with precision and recall borrowed from the DARPA Cyber Challenge scoring he designed.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103120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" b="1" i="0">
                <a:solidFill>
                  <a:srgbClr val="02C39A"/>
                </a:solidFill>
                <a:latin typeface="Cambria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2103120"/>
            <a:ext cx="281635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 i="0">
                <a:solidFill>
                  <a:srgbClr val="CFE7E6"/>
                </a:solidFill>
                <a:latin typeface="Calibri"/>
              </a:rPr>
              <a:t>real V8 vulnerabilities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971800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" b="1" i="0">
                <a:solidFill>
                  <a:srgbClr val="02C39A"/>
                </a:solidFill>
                <a:latin typeface="Cambria"/>
              </a:rPr>
              <a:t>~95%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6528" y="2971800"/>
            <a:ext cx="281635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 i="0">
                <a:solidFill>
                  <a:srgbClr val="CFE7E6"/>
                </a:solidFill>
                <a:latin typeface="Calibri"/>
              </a:rPr>
              <a:t>reached by the strongest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3840479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" b="1" i="0">
                <a:solidFill>
                  <a:srgbClr val="02C39A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3840479"/>
            <a:ext cx="281635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 i="0">
                <a:solidFill>
                  <a:srgbClr val="CFE7E6"/>
                </a:solidFill>
                <a:latin typeface="Calibri"/>
              </a:rPr>
              <a:t>real zero-day, out of sandbox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489204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8FB8B6"/>
                </a:solidFill>
                <a:latin typeface="Calibri"/>
              </a:rPr>
              <a:t>His closing warning: don't benchmaxx security. Environments grounded in real bugs with honest graders are what separate a model that looks like it can hack from one that actually can.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1E293B"/>
                </a:solidFill>
                <a:latin typeface="Cambria"/>
              </a:rPr>
              <a:t>Tooling, lightest to heaviest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0" i="0">
                <a:solidFill>
                  <a:srgbClr val="64748B"/>
                </a:solidFill>
                <a:latin typeface="Calibri"/>
              </a:rPr>
              <a:t>Pick the least ceremony that still gives you a real signal.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6400800" cy="3703320"/>
          </a:xfrm>
          <a:prstGeom prst="roundRect">
            <a:avLst>
              <a:gd name="adj" fmla="val 2962"/>
            </a:avLst>
          </a:prstGeom>
          <a:solidFill>
            <a:srgbClr val="F4F8F8"/>
          </a:solidFill>
          <a:ln>
            <a:noFill/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87552" y="2304288"/>
            <a:ext cx="384048" cy="38404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226771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1" i="0">
                <a:solidFill>
                  <a:srgbClr val="028090"/>
                </a:solidFill>
                <a:latin typeface="Cambria"/>
              </a:rPr>
              <a:t>smevals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23042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 i="1">
                <a:solidFill>
                  <a:srgbClr val="64748B"/>
                </a:solidFill>
                <a:latin typeface="Calibri"/>
              </a:rPr>
              <a:t>31 Jul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2633472"/>
            <a:ext cx="50749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1E293B"/>
                </a:solidFill>
                <a:latin typeface="Calibri"/>
              </a:rPr>
              <a:t>An eval suite is a directory of YAML. Run it across models, grade separately, read results in a dashboard or static HTML.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341985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1" i="0">
                <a:solidFill>
                  <a:srgbClr val="028090"/>
                </a:solidFill>
                <a:latin typeface="Cambria"/>
              </a:rPr>
              <a:t>RubricMiddleware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45643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 i="1">
                <a:solidFill>
                  <a:srgbClr val="64748B"/>
                </a:solidFill>
                <a:latin typeface="Calibri"/>
              </a:rPr>
              <a:t>LangChain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785616"/>
            <a:ext cx="50749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1E293B"/>
                </a:solidFill>
                <a:latin typeface="Calibri"/>
              </a:rPr>
              <a:t>Hand the agent an explicit rubric; it grades its own output against it and iterates until the work meets the criteria.</a:t>
            </a:r>
          </a:p>
        </p:txBody>
      </p:sp>
      <p:sp>
        <p:nvSpPr>
          <p:cNvPr id="13" name="Oval 12"/>
          <p:cNvSpPr/>
          <p:nvPr/>
        </p:nvSpPr>
        <p:spPr>
          <a:xfrm>
            <a:off x="987552" y="4608576"/>
            <a:ext cx="384048" cy="38404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457200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50" b="1" i="0">
                <a:solidFill>
                  <a:srgbClr val="028090"/>
                </a:solidFill>
                <a:latin typeface="Cambria"/>
              </a:rPr>
              <a:t>Eval-engineering 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4608576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 i="1">
                <a:solidFill>
                  <a:srgbClr val="64748B"/>
                </a:solidFill>
                <a:latin typeface="Calibri"/>
              </a:rPr>
              <a:t>22 Jul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937760"/>
            <a:ext cx="50749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1E293B"/>
                </a:solidFill>
                <a:latin typeface="Calibri"/>
              </a:rPr>
              <a:t>Repo analysis → trace mining → interview → containerised environments → executable evals. Facilitates rather than automates.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65960"/>
            <a:ext cx="4206240" cy="3703320"/>
          </a:xfrm>
          <a:prstGeom prst="roundRect">
            <a:avLst>
              <a:gd name="adj" fmla="val 2962"/>
            </a:avLst>
          </a:prstGeom>
          <a:solidFill>
            <a:srgbClr val="023E48"/>
          </a:solidFill>
          <a:ln>
            <a:noFill/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62672" y="2267712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1" i="0">
                <a:solidFill>
                  <a:srgbClr val="02C39A"/>
                </a:solidFill>
                <a:latin typeface="Calibri"/>
              </a:rPr>
              <a:t>THE DISCIPLINE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62672" y="2670048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mbria"/>
              </a:rPr>
              <a:t>Write the verifier first.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2672" y="3657600"/>
            <a:ext cx="3566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FE7E6"/>
                </a:solidFill>
                <a:latin typeface="Calibri"/>
              </a:rPr>
              <a:t>Before automating a step, ask what the automatic success signal is. If there isn't one, build one — or accept it's V2 and keep the human gate.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4937760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8FB8B6"/>
                </a:solidFill>
                <a:latin typeface="Calibri"/>
              </a:rPr>
              <a:t>The verifier is the one artifact you can't fully delegate — delegating it is what leaves nothing checking the checker.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3E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How we apply it at Coreshift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1499616"/>
            <a:ext cx="530352" cy="530352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1481328"/>
            <a:ext cx="9784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 i="0">
                <a:solidFill>
                  <a:srgbClr val="02C39A"/>
                </a:solidFill>
                <a:latin typeface="Cambria"/>
              </a:rPr>
              <a:t>Every agent task ships with a success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865376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 i="0">
                <a:solidFill>
                  <a:srgbClr val="DCEAE9"/>
                </a:solidFill>
                <a:latin typeface="Calibri"/>
              </a:rPr>
              <a:t>Typecheck + tests for code; schema / format validation for data; a written rubric for anything fuzzier.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395728"/>
            <a:ext cx="530352" cy="530352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77440"/>
            <a:ext cx="9784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 i="0">
                <a:solidFill>
                  <a:srgbClr val="02C39A"/>
                </a:solidFill>
                <a:latin typeface="Cambria"/>
              </a:rPr>
              <a:t>No self-report oracles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761488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 i="0">
                <a:solidFill>
                  <a:srgbClr val="DCEAE9"/>
                </a:solidFill>
                <a:latin typeface="Calibri"/>
              </a:rPr>
              <a:t>A check that asks the agent whether it succeeded is not a check. The grader inspects the artifact, not the claim.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91840"/>
            <a:ext cx="530352" cy="530352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273552"/>
            <a:ext cx="9784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 i="0">
                <a:solidFill>
                  <a:srgbClr val="02C39A"/>
                </a:solidFill>
                <a:latin typeface="Cambria"/>
              </a:rPr>
              <a:t>Read our own checks for prompt / grader contradiction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657600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 i="0">
                <a:solidFill>
                  <a:srgbClr val="DCEAE9"/>
                </a:solidFill>
                <a:latin typeface="Calibri"/>
              </a:rPr>
              <a:t>An instruction the verifier can't actually accept turns gaming into the only winning move.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187952"/>
            <a:ext cx="530352" cy="530352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69664"/>
            <a:ext cx="9784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 i="0">
                <a:solidFill>
                  <a:srgbClr val="02C39A"/>
                </a:solidFill>
                <a:latin typeface="Cambria"/>
              </a:rPr>
              <a:t>V2 work keeps its human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553712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 i="0">
                <a:solidFill>
                  <a:srgbClr val="DCEAE9"/>
                </a:solidFill>
                <a:latin typeface="Calibri"/>
              </a:rPr>
              <a:t>DB migrations, prod deploys and outbound comms stay behind a person.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5084064"/>
            <a:ext cx="530352" cy="530352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065776"/>
            <a:ext cx="9784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1" i="0">
                <a:solidFill>
                  <a:srgbClr val="02C39A"/>
                </a:solidFill>
                <a:latin typeface="Cambria"/>
              </a:rPr>
              <a:t>Every production failure becomes a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449824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50" b="0" i="0">
                <a:solidFill>
                  <a:srgbClr val="DCEAE9"/>
                </a:solidFill>
                <a:latin typeface="Calibri"/>
              </a:rPr>
              <a:t>So the signal sharpens with use — and "we can't verify this yet" stays a reason not to automate.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144768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8FB8B6"/>
                </a:solidFill>
                <a:latin typeface="Calibri"/>
              </a:rPr>
              <a:t>And when a check is itself agent-written, we read the verifier's reasoning — not just its verdict.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1554480"/>
            <a:ext cx="10881360" cy="3749039"/>
          </a:xfrm>
          <a:prstGeom prst="roundRect">
            <a:avLst>
              <a:gd name="adj" fmla="val 2926"/>
            </a:avLst>
          </a:prstGeom>
          <a:solidFill>
            <a:srgbClr val="F4F8F8"/>
          </a:solidFill>
          <a:ln>
            <a:noFill/>
          </a:ln>
          <a:effectLst>
            <a:outerShdw blurRad="88900" dist="25400" dir="2700000" algn="bl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192024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28090"/>
                </a:solidFill>
                <a:latin typeface="Calibri"/>
              </a:rPr>
              <a:t>ONE LINE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95728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200"/>
              </a:spcAft>
            </a:pPr>
            <a:r>
              <a:rPr sz="3000" b="1" i="0">
                <a:solidFill>
                  <a:srgbClr val="1E293B"/>
                </a:solidFill>
                <a:latin typeface="Cambria"/>
              </a:rPr>
              <a:t>If you can verify it, an agent can do it.</a:t>
            </a:r>
          </a:p>
          <a:p>
            <a:r>
              <a:rPr sz="3000" b="1" i="0">
                <a:solidFill>
                  <a:srgbClr val="028090"/>
                </a:solidFill>
                <a:latin typeface="Cambria"/>
              </a:rPr>
              <a:t>But a verifier you haven't audited is not a verifier.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0" i="0">
                <a:solidFill>
                  <a:srgbClr val="64748B"/>
                </a:solidFill>
                <a:latin typeface="Calibri"/>
              </a:rPr>
              <a:t>Sort tasks V1 / V2 / V3 · wire automatic checks into the loop · never let the agent grade itself by assertion · turn every production failure into a 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50" b="0" i="0">
                <a:solidFill>
                  <a:srgbClr val="64748B"/>
                </a:solidFill>
                <a:latin typeface="Calibri"/>
              </a:rPr>
              <a:t>AI Practice Radar · Week of 3 Aug 2026 · coreshifthqnz.github.io/coreshift-kanbans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